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353" r:id="rId2"/>
    <p:sldId id="359" r:id="rId3"/>
    <p:sldId id="360" r:id="rId4"/>
    <p:sldId id="361" r:id="rId5"/>
    <p:sldId id="370" r:id="rId6"/>
    <p:sldId id="371" r:id="rId7"/>
    <p:sldId id="372" r:id="rId8"/>
    <p:sldId id="373" r:id="rId9"/>
    <p:sldId id="369" r:id="rId10"/>
    <p:sldId id="374" r:id="rId11"/>
    <p:sldId id="362" r:id="rId12"/>
    <p:sldId id="3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los Manuel Milheiro de Oliveira Pinto Soares" initials="CMMdOPS" lastIdx="14" clrIdx="0">
    <p:extLst>
      <p:ext uri="{19B8F6BF-5375-455C-9EA6-DF929625EA0E}">
        <p15:presenceInfo xmlns:p15="http://schemas.microsoft.com/office/powerpoint/2012/main" userId="ad9450a8-fb89-4aff-9c31-a91c81ef7610" providerId="Windows Live"/>
      </p:ext>
    </p:extLst>
  </p:cmAuthor>
  <p:cmAuthor id="2" name="Carlos Manuel Milheiro de Oliveira Pinto Soares" initials="CMMdOPS [2]" lastIdx="12" clrIdx="1">
    <p:extLst>
      <p:ext uri="{19B8F6BF-5375-455C-9EA6-DF929625EA0E}">
        <p15:presenceInfo xmlns:p15="http://schemas.microsoft.com/office/powerpoint/2012/main" userId="S::csoares@pbs.up.pt::ad9450a8-fb89-4aff-9c31-a91c81ef7610" providerId="AD"/>
      </p:ext>
    </p:extLst>
  </p:cmAuthor>
  <p:cmAuthor id="3" name="Carlos Soares" initials="CS" lastIdx="7" clrIdx="2">
    <p:extLst>
      <p:ext uri="{19B8F6BF-5375-455C-9EA6-DF929625EA0E}">
        <p15:presenceInfo xmlns:p15="http://schemas.microsoft.com/office/powerpoint/2012/main" userId="S::up235847@up.pt::58cfb87a-9ada-478d-b2aa-47c3b05f2ec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A48416-0341-B580-2318-0CCD4F982C78}" v="8" dt="2026-05-22T06:45:55.574"/>
    <p1510:client id="{8491569D-10BA-7223-3B44-FF44C05DF9E7}" v="55" dt="2026-05-22T06:56:50.3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commentAuthors" Target="commentAuthor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132BA-7F90-C045-AC3C-D088D737BC85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F13E1-8011-274F-A832-B81829A48DC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415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4605C-FF3E-654F-890C-85C3E6C4269C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A452D-C759-EA45-A61C-6757CDAD729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7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A452D-C759-EA45-A61C-6757CDAD729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90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A452D-C759-EA45-A61C-6757CDAD729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6494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tif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84386"/>
            <a:ext cx="7772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133600" cy="365125"/>
          </a:xfrm>
        </p:spPr>
        <p:txBody>
          <a:bodyPr/>
          <a:lstStyle/>
          <a:p>
            <a:fld id="{11E87A6F-16E5-2444-8E01-52483A43058D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87560" y="6492875"/>
            <a:ext cx="4188543" cy="365125"/>
          </a:xfrm>
        </p:spPr>
        <p:txBody>
          <a:bodyPr/>
          <a:lstStyle/>
          <a:p>
            <a:r>
              <a:rPr lang="en-US"/>
              <a:t>IART @ L.EIC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03026" y="6492875"/>
            <a:ext cx="2133600" cy="365125"/>
          </a:xfrm>
        </p:spPr>
        <p:txBody>
          <a:bodyPr/>
          <a:lstStyle/>
          <a:p>
            <a:fld id="{DACF91DC-9B2A-DA46-8614-FC490D3FF29A}" type="slidenum">
              <a:rPr lang="en-US" smtClean="0"/>
              <a:t>‹nº›</a:t>
            </a:fld>
            <a:endParaRPr lang="en-US"/>
          </a:p>
        </p:txBody>
      </p:sp>
      <p:pic>
        <p:nvPicPr>
          <p:cNvPr id="9" name="Picture 8" descr="logo_UP_FEUP_monocromátic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85953"/>
            <a:ext cx="2015644" cy="6646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9148CA-9598-5A4A-A7FC-FEA6BD71DD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9902" b="15599"/>
          <a:stretch/>
        </p:blipFill>
        <p:spPr>
          <a:xfrm>
            <a:off x="6019800" y="116855"/>
            <a:ext cx="2502310" cy="100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50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843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BE37-C354-7843-8D1B-82AD8732054D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6" descr="logo_UP_FEUP_monocromátic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5350364"/>
            <a:ext cx="2027668" cy="66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9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edit</a:t>
            </a:r>
            <a:r>
              <a:rPr lang="pt-PT"/>
              <a:t> </a:t>
            </a:r>
            <a:r>
              <a:rPr lang="pt-PT" err="1"/>
              <a:t>Master</a:t>
            </a:r>
            <a:r>
              <a:rPr lang="pt-PT"/>
              <a:t> </a:t>
            </a:r>
            <a:r>
              <a:rPr lang="pt-PT" err="1"/>
              <a:t>title</a:t>
            </a:r>
            <a:r>
              <a:rPr lang="pt-PT"/>
              <a:t> </a:t>
            </a:r>
            <a:r>
              <a:rPr lang="pt-PT" err="1"/>
              <a:t>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8EF8-12EF-244B-8AD9-ADF3AF7DF6B1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3F4CE35-700E-D24D-BFFE-3A46495E0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7560" y="6492875"/>
            <a:ext cx="4188543" cy="365125"/>
          </a:xfrm>
        </p:spPr>
        <p:txBody>
          <a:bodyPr/>
          <a:lstStyle/>
          <a:p>
            <a:r>
              <a:rPr lang="en-US"/>
              <a:t>IART @ L.EIC</a:t>
            </a:r>
          </a:p>
        </p:txBody>
      </p:sp>
    </p:spTree>
    <p:extLst>
      <p:ext uri="{BB962C8B-B14F-4D97-AF65-F5344CB8AC3E}">
        <p14:creationId xmlns:p14="http://schemas.microsoft.com/office/powerpoint/2010/main" val="258844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E1FB-A965-7646-B21B-EA92A716BFB6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60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62DD-2E3D-1046-8925-14B387B4EBE4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23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5E3E-DB9A-D44E-A77E-F04CA3810003}" type="datetime1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0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0069CF2-EEBE-B943-855E-E4B9D86DC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3CC3B-8D39-4F4D-BF99-FB2D3A1E3AF3}" type="datetime1">
              <a:rPr lang="en-US" smtClean="0"/>
              <a:t>5/21/2026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1244B59-E2B5-444D-B4DC-4AC3B4C84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49909" y="6492875"/>
            <a:ext cx="4463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IART @ L.EIC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92CFB25-9124-B443-9B84-19A867D02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F91DC-9B2A-DA46-8614-FC490D3FF2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A6A1B-DA9C-F04B-AB4D-14C78B78D751}" type="datetime1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21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CD2A-FE21-F941-9181-60477F37902D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4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DD4D-0F64-554F-821E-A588CA7F0791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0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3654A-3E1B-1642-984F-D85157AAB59A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42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649C1-9FF8-D641-9274-7E16A33349D5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79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údo geral">
  <p:cSld name="1_Conteúdo geral">
    <p:bg>
      <p:bgPr>
        <a:blipFill>
          <a:blip r:embed="rId2">
            <a:alphaModFix amt="15000"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/>
        </p:nvSpPr>
        <p:spPr>
          <a:xfrm>
            <a:off x="1417599" y="6335713"/>
            <a:ext cx="18101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E9E9E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350"/>
          </a:p>
        </p:txBody>
      </p:sp>
      <p:sp>
        <p:nvSpPr>
          <p:cNvPr id="19" name="Google Shape;19;p12"/>
          <p:cNvSpPr txBox="1">
            <a:spLocks noGrp="1"/>
          </p:cNvSpPr>
          <p:nvPr>
            <p:ph type="title"/>
          </p:nvPr>
        </p:nvSpPr>
        <p:spPr>
          <a:xfrm>
            <a:off x="251222" y="53744"/>
            <a:ext cx="6427012" cy="85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None/>
              <a:defRPr sz="1800" b="1" i="0" u="none" strike="noStrike" cap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1"/>
          </p:nvPr>
        </p:nvSpPr>
        <p:spPr>
          <a:xfrm>
            <a:off x="250924" y="1052736"/>
            <a:ext cx="8641556" cy="5124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marR="0" lvl="0" indent="-1714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373E47"/>
              </a:buClr>
              <a:buSzPts val="2400"/>
              <a:buFont typeface="Arial"/>
              <a:buNone/>
              <a:defRPr sz="18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685800" marR="0" lvl="1" indent="-276225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▪"/>
              <a:defRPr sz="15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057400" marR="0" lvl="5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400300" marR="0" lvl="6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2743200" marR="0" lvl="7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086100" marR="0" lvl="8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008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572">
          <p15:clr>
            <a:srgbClr val="FBAE40"/>
          </p15:clr>
        </p15:guide>
        <p15:guide id="4" pos="6335">
          <p15:clr>
            <a:srgbClr val="FBAE40"/>
          </p15:clr>
        </p15:guide>
        <p15:guide id="5" pos="7469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28">
          <p15:clr>
            <a:srgbClr val="FBAE40"/>
          </p15:clr>
        </p15:guide>
        <p15:guide id="8" orient="horz" pos="216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870"/>
            <a:ext cx="6940861" cy="1278217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AA085-F8B6-C74F-A545-7650ED705A4F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9909" y="6492875"/>
            <a:ext cx="4463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IART @ L.EIC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F91DC-9B2A-DA46-8614-FC490D3FF29A}" type="slidenum">
              <a:rPr lang="en-US" smtClean="0"/>
              <a:t>‹nº›</a:t>
            </a:fld>
            <a:endParaRPr lang="en-US"/>
          </a:p>
        </p:txBody>
      </p:sp>
      <p:pic>
        <p:nvPicPr>
          <p:cNvPr id="11" name="Picture 10" descr="logo_UP_FEUP_monocromático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861" y="293957"/>
            <a:ext cx="2239233" cy="7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24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4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>
            <a:normAutofit/>
          </a:bodyPr>
          <a:lstStyle/>
          <a:p>
            <a:r>
              <a:rPr lang="en-US"/>
              <a:t>Project 2</a:t>
            </a:r>
            <a:br>
              <a:rPr lang="en-US"/>
            </a:br>
            <a:r>
              <a:rPr lang="en-US"/>
              <a:t>L.EIC – IART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D12EB-6D15-0DB7-BF29-13548910D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184386"/>
            <a:ext cx="6808022" cy="1752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t-PT"/>
              <a:t>Melissa Nízero Cuna  up…</a:t>
            </a:r>
          </a:p>
          <a:p>
            <a:pPr algn="l"/>
            <a:r>
              <a:rPr lang="pt-PT"/>
              <a:t>Tomás Ferreira da Costa up202305348</a:t>
            </a:r>
            <a:endParaRPr lang="pt-PT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3574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970CE-FDEC-4E92-E8F6-A3D1A00C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/>
              <a:t>customer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CAAC2-B777-3DD2-AD48-C440F090F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T"/>
              <a:t>name and short description of the customer</a:t>
            </a:r>
          </a:p>
          <a:p>
            <a:r>
              <a:rPr lang="en-PT"/>
              <a:t>name and role of the contact person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27DF1-2037-AB3E-9747-A728CE44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9A950-FBEE-1B3C-AC4D-4DB713F8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</p:spTree>
    <p:extLst>
      <p:ext uri="{BB962C8B-B14F-4D97-AF65-F5344CB8AC3E}">
        <p14:creationId xmlns:p14="http://schemas.microsoft.com/office/powerpoint/2010/main" val="2989641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CB54-7A9F-C7C6-433C-355A834E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b="1"/>
              <a:t>Gestão de </a:t>
            </a:r>
            <a:r>
              <a:rPr lang="pt-PT" b="1" err="1"/>
              <a:t>Burnout</a:t>
            </a:r>
            <a:r>
              <a:rPr lang="pt-PT" b="1"/>
              <a:t> em Empresas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53A36-7E51-3C7C-9EE3-5B270D72C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1900"/>
              <a:t>Esgotamento profissional é um problema crescente que afeta a saúde mental dos colaboradores e a produtividade das organizações. O problema central é a </a:t>
            </a:r>
            <a:r>
              <a:rPr lang="pt-PT" sz="1900" b="1"/>
              <a:t>incapacidade das empresas em detetar sinais precoces de stress extremo</a:t>
            </a:r>
            <a:r>
              <a:rPr lang="pt-PT" sz="1900"/>
              <a:t> antes que estes resultem em baixas médicas prolongadas, pedidos de demissão ou uma queda drástica na performance da equipa.</a:t>
            </a:r>
          </a:p>
          <a:p>
            <a:pPr marL="0" indent="0">
              <a:buNone/>
            </a:pPr>
            <a:endParaRPr lang="pt-PT" sz="1900"/>
          </a:p>
          <a:p>
            <a:pPr marL="0" indent="0">
              <a:buNone/>
            </a:pPr>
            <a:r>
              <a:rPr lang="pt-PT" sz="1900"/>
              <a:t>Neste cenário de consultoria, o problema é identificado como um </a:t>
            </a:r>
            <a:r>
              <a:rPr lang="pt-PT" sz="1900" b="1" err="1"/>
              <a:t>low-hanging</a:t>
            </a:r>
            <a:r>
              <a:rPr lang="pt-PT" sz="1900" b="1"/>
              <a:t> </a:t>
            </a:r>
            <a:r>
              <a:rPr lang="pt-PT" sz="1900" b="1" err="1"/>
              <a:t>fruit</a:t>
            </a:r>
            <a:r>
              <a:rPr lang="pt-PT" sz="1900" b="1"/>
              <a:t> </a:t>
            </a:r>
            <a:r>
              <a:rPr lang="pt-PT" sz="1900"/>
              <a:t>porque existem indicadores comportamentais e operacionais como excesso de horas e falta de pausas) que, se analisados corretamente, podem prever o risco antes do colapso</a:t>
            </a:r>
            <a:endParaRPr lang="en-PT" sz="19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A3059-B1BD-D3FB-B86A-3BA4E9FA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7EF15-F82E-7BC4-F9C0-A0C866B1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</p:spTree>
    <p:extLst>
      <p:ext uri="{BB962C8B-B14F-4D97-AF65-F5344CB8AC3E}">
        <p14:creationId xmlns:p14="http://schemas.microsoft.com/office/powerpoint/2010/main" val="2268664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9B77-200C-05A3-C3A2-3710962E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/>
              <a:t>available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4D6B1-3115-4035-E5FE-A1BE13B8B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PT" b="1"/>
              <a:t>Tabela de Colaboradores (Entidade: Perfil)</a:t>
            </a:r>
            <a:endParaRPr lang="pt-PT"/>
          </a:p>
          <a:p>
            <a:pPr lvl="1"/>
            <a:r>
              <a:rPr lang="pt-PT" b="1"/>
              <a:t>Descrição:</a:t>
            </a:r>
            <a:r>
              <a:rPr lang="pt-PT"/>
              <a:t> Dados básicos para identificar o contexto de cada trabalhador.</a:t>
            </a:r>
          </a:p>
          <a:p>
            <a:pPr lvl="1"/>
            <a:r>
              <a:rPr lang="pt-PT" b="1"/>
              <a:t>Campos sugeridos:</a:t>
            </a:r>
            <a:r>
              <a:rPr lang="pt-PT"/>
              <a:t> ID do colaborador, departamento (</a:t>
            </a:r>
            <a:r>
              <a:rPr lang="pt-PT" err="1"/>
              <a:t>ex</a:t>
            </a:r>
            <a:r>
              <a:rPr lang="pt-PT"/>
              <a:t>: TI, Vendas, RH), cargo e anos de antiguidade na empresa.</a:t>
            </a:r>
          </a:p>
          <a:p>
            <a:r>
              <a:rPr lang="pt-PT" b="1"/>
              <a:t>Tabela de Atividade Laboral (Entidade: Desempenho)</a:t>
            </a:r>
            <a:endParaRPr lang="pt-PT"/>
          </a:p>
          <a:p>
            <a:pPr lvl="1"/>
            <a:r>
              <a:rPr lang="pt-PT" b="1"/>
              <a:t>Descrição:</a:t>
            </a:r>
            <a:r>
              <a:rPr lang="pt-PT"/>
              <a:t> Registos de carga de trabalho extraídos de sistemas de gestão de projetos ou de pontos.</a:t>
            </a:r>
          </a:p>
          <a:p>
            <a:pPr lvl="1"/>
            <a:r>
              <a:rPr lang="pt-PT" b="1"/>
              <a:t>Campos sugeridos:</a:t>
            </a:r>
            <a:r>
              <a:rPr lang="pt-PT"/>
              <a:t> Horas trabalhadas por semana, número de horas extraordinárias, e média de horas diárias passadas em reuniões.</a:t>
            </a:r>
          </a:p>
          <a:p>
            <a:r>
              <a:rPr lang="pt-PT" b="1"/>
              <a:t>Tabela de Descanso e Assiduidade (Entidade: Bem-estar)</a:t>
            </a:r>
            <a:endParaRPr lang="pt-PT"/>
          </a:p>
          <a:p>
            <a:pPr lvl="1"/>
            <a:r>
              <a:rPr lang="pt-PT" b="1"/>
              <a:t>Descrição:</a:t>
            </a:r>
            <a:r>
              <a:rPr lang="pt-PT"/>
              <a:t> Dados sobre os períodos de recuperação e histórico de saúde do colaborador.</a:t>
            </a:r>
          </a:p>
          <a:p>
            <a:pPr lvl="1"/>
            <a:r>
              <a:rPr lang="pt-PT" b="1"/>
              <a:t>Campos sugeridos:</a:t>
            </a:r>
            <a:r>
              <a:rPr lang="pt-PT"/>
              <a:t> Dias decorridos desde as últimas férias, número de dias de falta/baixa médica nos últimos 6 meses e dias de folga gozados.</a:t>
            </a:r>
          </a:p>
          <a:p>
            <a:r>
              <a:rPr lang="pt-PT" b="1"/>
              <a:t>Tabela de Inquéritos "Pulse" (Entidade: Feedback)</a:t>
            </a:r>
            <a:endParaRPr lang="pt-PT"/>
          </a:p>
          <a:p>
            <a:pPr lvl="1"/>
            <a:r>
              <a:rPr lang="pt-PT" b="1"/>
              <a:t>Descrição:</a:t>
            </a:r>
            <a:r>
              <a:rPr lang="pt-PT"/>
              <a:t> Resultados de </a:t>
            </a:r>
            <a:r>
              <a:rPr lang="pt-PT" err="1"/>
              <a:t>micro-questionários</a:t>
            </a:r>
            <a:r>
              <a:rPr lang="pt-PT"/>
              <a:t> semanais anónimos sobre o estado de espírito.</a:t>
            </a:r>
          </a:p>
          <a:p>
            <a:pPr lvl="1"/>
            <a:r>
              <a:rPr lang="pt-PT" b="1"/>
              <a:t>Campos sugeridos:</a:t>
            </a:r>
            <a:r>
              <a:rPr lang="pt-PT"/>
              <a:t> Nível de stress </a:t>
            </a:r>
            <a:r>
              <a:rPr lang="pt-PT" err="1"/>
              <a:t>auto-reportado</a:t>
            </a:r>
            <a:r>
              <a:rPr lang="pt-PT"/>
              <a:t> (escala 1-5) e nível de motivação (escala 1-5).</a:t>
            </a:r>
          </a:p>
          <a:p>
            <a:pPr marL="0" indent="0">
              <a:buNone/>
            </a:pPr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F9FCA-61A8-ABA8-6F53-C41BCD1A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14484-D6EC-2E5C-5551-962F7ABD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</p:spTree>
    <p:extLst>
      <p:ext uri="{BB962C8B-B14F-4D97-AF65-F5344CB8AC3E}">
        <p14:creationId xmlns:p14="http://schemas.microsoft.com/office/powerpoint/2010/main" val="85252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2D650-9867-C2E6-3486-38C1DF666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FD194-E657-3A6A-43C5-1BCD9E722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PT"/>
          </a:p>
          <a:p>
            <a:r>
              <a:rPr lang="pt-PT" sz="1800" err="1"/>
              <a:t>Dashboard</a:t>
            </a:r>
            <a:r>
              <a:rPr lang="pt-PT" sz="1800"/>
              <a:t> Web para visualização de métricas de saúde organizacional;</a:t>
            </a:r>
          </a:p>
          <a:p>
            <a:r>
              <a:rPr lang="pt-PT" sz="1800"/>
              <a:t>Modelo de </a:t>
            </a:r>
            <a:r>
              <a:rPr lang="pt-PT" sz="1800" err="1"/>
              <a:t>Machine</a:t>
            </a:r>
            <a:r>
              <a:rPr lang="pt-PT" sz="1800"/>
              <a:t> </a:t>
            </a:r>
            <a:r>
              <a:rPr lang="pt-PT" sz="1800" err="1"/>
              <a:t>Learning</a:t>
            </a:r>
            <a:r>
              <a:rPr lang="pt-PT" sz="1800"/>
              <a:t> para classificação de risco de </a:t>
            </a:r>
            <a:r>
              <a:rPr lang="pt-PT" sz="1800" err="1"/>
              <a:t>burnout</a:t>
            </a:r>
            <a:r>
              <a:rPr lang="pt-PT" sz="1800"/>
              <a:t>;</a:t>
            </a:r>
          </a:p>
          <a:p>
            <a:r>
              <a:rPr lang="pt-PT" sz="1800"/>
              <a:t>Interface de suporte à decisão com sugestões de intervenção (</a:t>
            </a:r>
            <a:r>
              <a:rPr lang="pt-PT" sz="1800" err="1"/>
              <a:t>ex</a:t>
            </a:r>
            <a:r>
              <a:rPr lang="pt-PT" sz="1800"/>
              <a:t>: pausas obrigatórias);</a:t>
            </a:r>
          </a:p>
          <a:p>
            <a:r>
              <a:rPr lang="pt-PT" sz="1800"/>
              <a:t>Foco na prevenção proativa em vez da reação tardia.</a:t>
            </a:r>
          </a:p>
          <a:p>
            <a:pPr marL="457200" lvl="1" indent="0">
              <a:buNone/>
            </a:pPr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766D3-9E2F-2E67-C082-FC0ACBEB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9BFB8-9687-5073-75B7-B3FF1BFA5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</p:spTree>
    <p:extLst>
      <p:ext uri="{BB962C8B-B14F-4D97-AF65-F5344CB8AC3E}">
        <p14:creationId xmlns:p14="http://schemas.microsoft.com/office/powerpoint/2010/main" val="3305337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4356-5B8F-4558-EEB3-1C6959DB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/>
              <a:t>predictive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2A04B-D6C7-A5F6-EC51-5C4F06606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pt-PT" sz="1800" b="1"/>
              <a:t>Descrição do Modelo</a:t>
            </a:r>
            <a:r>
              <a:rPr lang="pt-PT" sz="1800"/>
              <a:t>: "O modelo consiste num classificador que analisa padrões de comportamento laboral e indicadores de bem-estar para categorizar o risco de exaustão profissional de cada colaborador.“</a:t>
            </a:r>
          </a:p>
          <a:p>
            <a:pPr marL="457200" lvl="1" indent="0">
              <a:buNone/>
            </a:pPr>
            <a:endParaRPr lang="pt-PT" sz="1800"/>
          </a:p>
          <a:p>
            <a:pPr marL="457200" lvl="1" indent="0">
              <a:buNone/>
            </a:pPr>
            <a:endParaRPr lang="pt-PT" sz="1800"/>
          </a:p>
          <a:p>
            <a:pPr marL="457200" lvl="1" indent="0">
              <a:buNone/>
            </a:pPr>
            <a:r>
              <a:rPr lang="pt-PT" sz="1800" b="1"/>
              <a:t>Variável Alvo</a:t>
            </a:r>
            <a:r>
              <a:rPr lang="pt-PT" sz="1800"/>
              <a:t>: Risco de </a:t>
            </a:r>
            <a:r>
              <a:rPr lang="pt-PT" sz="1800" err="1"/>
              <a:t>Burnout</a:t>
            </a:r>
            <a:r>
              <a:rPr lang="pt-PT" sz="1800"/>
              <a:t> (Escala: Baixo, Médio, Elevado).</a:t>
            </a:r>
          </a:p>
          <a:p>
            <a:pPr marL="457200" lvl="1" indent="0">
              <a:buNone/>
            </a:pPr>
            <a:r>
              <a:rPr lang="pt-PT" sz="1800"/>
              <a:t>Atributos Principais: Horas extra, intervalo entre férias, satisfação reportada e volume de reuniões.</a:t>
            </a:r>
            <a:endParaRPr lang="en-PT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09459-8901-5DAB-D626-C5D2A119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78D78-9BA9-58F2-1DD2-E5AA90B2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</p:spTree>
    <p:extLst>
      <p:ext uri="{BB962C8B-B14F-4D97-AF65-F5344CB8AC3E}">
        <p14:creationId xmlns:p14="http://schemas.microsoft.com/office/powerpoint/2010/main" val="2811184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A6EA-5FEA-9B03-3BF6-6E775FD2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/>
              <a:t>empirical study: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4A4F5-6F7E-54A8-1CAD-FF23811E0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81088"/>
            <a:ext cx="9144000" cy="55740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PT" sz="1600" b="1" err="1"/>
              <a:t>Summary</a:t>
            </a:r>
            <a:r>
              <a:rPr lang="pt-PT" sz="1600" b="1"/>
              <a:t> </a:t>
            </a:r>
            <a:r>
              <a:rPr lang="pt-PT" sz="1600" b="1" err="1"/>
              <a:t>of</a:t>
            </a:r>
            <a:r>
              <a:rPr lang="pt-PT" sz="1600" b="1"/>
              <a:t> Experimental Setup: </a:t>
            </a:r>
            <a:r>
              <a:rPr lang="pt-PT" sz="1600"/>
              <a:t>O ambiente de teste foi desenvolvido em </a:t>
            </a:r>
            <a:r>
              <a:rPr lang="pt-PT" sz="1600" err="1"/>
              <a:t>Python</a:t>
            </a:r>
            <a:r>
              <a:rPr lang="pt-PT" sz="1600"/>
              <a:t>, utilizando bibliotecas como Pandas para manipulação de dados e </a:t>
            </a:r>
            <a:r>
              <a:rPr lang="pt-PT" sz="1600" err="1"/>
              <a:t>Scikit-Learn</a:t>
            </a:r>
            <a:r>
              <a:rPr lang="pt-PT" sz="1600"/>
              <a:t> para o treino e avaliação do modelo de </a:t>
            </a:r>
            <a:r>
              <a:rPr lang="pt-PT" sz="1600" err="1"/>
              <a:t>Machine</a:t>
            </a:r>
            <a:r>
              <a:rPr lang="pt-PT" sz="1600"/>
              <a:t> </a:t>
            </a:r>
            <a:r>
              <a:rPr lang="pt-PT" sz="1600" err="1"/>
              <a:t>Learning</a:t>
            </a:r>
            <a:endParaRPr lang="pt-PT" sz="1600"/>
          </a:p>
          <a:p>
            <a:pPr marL="0" indent="0">
              <a:buNone/>
            </a:pPr>
            <a:r>
              <a:rPr lang="pt-PT" sz="1600"/>
              <a:t>O objetivo é avaliar a capacidade do modelo em classificar corretamente o risco de </a:t>
            </a:r>
            <a:r>
              <a:rPr lang="pt-PT" sz="1600" err="1"/>
              <a:t>burnout</a:t>
            </a:r>
            <a:r>
              <a:rPr lang="pt-PT" sz="1600"/>
              <a:t> (Baixo, Médio ou Elevado)</a:t>
            </a:r>
          </a:p>
          <a:p>
            <a:pPr marL="0" indent="0">
              <a:buNone/>
            </a:pPr>
            <a:r>
              <a:rPr lang="pt-PT" sz="1600" b="1"/>
              <a:t>Artificial Data </a:t>
            </a:r>
            <a:r>
              <a:rPr lang="pt-PT" sz="1600" b="1" err="1"/>
              <a:t>Generated</a:t>
            </a:r>
            <a:r>
              <a:rPr lang="pt-PT" sz="1600" b="1"/>
              <a:t>: </a:t>
            </a:r>
            <a:r>
              <a:rPr lang="pt-PT" sz="1600"/>
              <a:t>Foram gerados 1000 registos sintéticos de colaboradores fictícios para simular um cenário real</a:t>
            </a:r>
          </a:p>
          <a:p>
            <a:pPr marL="0" indent="0">
              <a:buNone/>
            </a:pPr>
            <a:r>
              <a:rPr lang="pt-PT" sz="1600" b="1"/>
              <a:t>Lógica da Geração: </a:t>
            </a:r>
            <a:r>
              <a:rPr lang="pt-PT" sz="1600"/>
              <a:t>Criou-se uma correlação estatística onde valores elevados em "Horas Extra" e um elevado número de "Dias desde as últimas férias" aumentam a probabilidade da variável alvo ser "Risco Elevado".</a:t>
            </a:r>
          </a:p>
          <a:p>
            <a:pPr marL="0" indent="0">
              <a:buNone/>
            </a:pPr>
            <a:r>
              <a:rPr lang="pt-PT" sz="1600" b="1" err="1"/>
              <a:t>Model</a:t>
            </a:r>
            <a:r>
              <a:rPr lang="pt-PT" sz="1600" b="1"/>
              <a:t> </a:t>
            </a:r>
            <a:r>
              <a:rPr lang="pt-PT" sz="1600" b="1" err="1"/>
              <a:t>Evaluation</a:t>
            </a:r>
            <a:r>
              <a:rPr lang="pt-PT" sz="1600" b="1"/>
              <a:t> </a:t>
            </a:r>
            <a:r>
              <a:rPr lang="pt-PT" sz="1600" b="1" err="1"/>
              <a:t>Process</a:t>
            </a:r>
            <a:r>
              <a:rPr lang="pt-PT" sz="1600" b="1"/>
              <a:t>: </a:t>
            </a:r>
            <a:r>
              <a:rPr lang="pt-PT" sz="1600"/>
              <a:t>Os dados gerados foram divididos em dois conjuntos distintos: Treino (80%), usado para o modelo aprender os padrões de stress, e Teste (20%), usado para verificar a precisão do modelo em casos que ele nunca "viu" antes</a:t>
            </a:r>
          </a:p>
          <a:p>
            <a:pPr marL="0" indent="0">
              <a:buNone/>
            </a:pPr>
            <a:r>
              <a:rPr lang="pt-PT" sz="1600" b="1" err="1"/>
              <a:t>Evaluation</a:t>
            </a:r>
            <a:r>
              <a:rPr lang="pt-PT" sz="1600" b="1"/>
              <a:t> </a:t>
            </a:r>
            <a:r>
              <a:rPr lang="pt-PT" sz="1600" b="1" err="1"/>
              <a:t>Measures</a:t>
            </a:r>
            <a:r>
              <a:rPr lang="pt-PT" sz="1600" b="1"/>
              <a:t> (Métricas de Avaliação): </a:t>
            </a:r>
            <a:r>
              <a:rPr lang="pt-PT" sz="1600"/>
              <a:t>Precisão (</a:t>
            </a:r>
            <a:r>
              <a:rPr lang="pt-PT" sz="1600" err="1"/>
              <a:t>Precision</a:t>
            </a:r>
            <a:r>
              <a:rPr lang="pt-PT" sz="1600"/>
              <a:t>): Para garantir que os alertas de </a:t>
            </a:r>
            <a:r>
              <a:rPr lang="pt-PT" sz="1600" err="1"/>
              <a:t>burnout</a:t>
            </a:r>
            <a:r>
              <a:rPr lang="pt-PT" sz="1600"/>
              <a:t> são verdadeiros.</a:t>
            </a:r>
          </a:p>
          <a:p>
            <a:pPr marL="0" indent="0">
              <a:buNone/>
            </a:pPr>
            <a:r>
              <a:rPr lang="pt-PT" sz="1600" b="1"/>
              <a:t>Revocação (</a:t>
            </a:r>
            <a:r>
              <a:rPr lang="pt-PT" sz="1600" b="1" err="1"/>
              <a:t>Recall</a:t>
            </a:r>
            <a:r>
              <a:rPr lang="pt-PT" sz="1600" b="1"/>
              <a:t>): </a:t>
            </a:r>
            <a:r>
              <a:rPr lang="pt-PT" sz="1600"/>
              <a:t>Para garantir que o sistema não falha ao detetar colaboradores que estão realmente em risco.</a:t>
            </a:r>
          </a:p>
          <a:p>
            <a:pPr marL="0" indent="0">
              <a:buNone/>
            </a:pPr>
            <a:r>
              <a:rPr lang="pt-PT" sz="1600" b="1"/>
              <a:t>F1-Score: </a:t>
            </a:r>
            <a:r>
              <a:rPr lang="pt-PT" sz="1600"/>
              <a:t>Para obter uma métrica equilibrada de desempenho global</a:t>
            </a:r>
          </a:p>
          <a:p>
            <a:pPr marL="0" indent="0">
              <a:buNone/>
            </a:pPr>
            <a:r>
              <a:rPr lang="pt-PT" sz="1600" b="1"/>
              <a:t>Performances </a:t>
            </a:r>
            <a:r>
              <a:rPr lang="pt-PT" sz="1600" b="1" err="1"/>
              <a:t>Estimation</a:t>
            </a:r>
            <a:r>
              <a:rPr lang="pt-PT" sz="1600" b="1"/>
              <a:t> </a:t>
            </a:r>
            <a:r>
              <a:rPr lang="pt-PT" sz="1600" b="1" err="1"/>
              <a:t>Methodology</a:t>
            </a:r>
            <a:r>
              <a:rPr lang="pt-PT" sz="1600" b="1"/>
              <a:t>: </a:t>
            </a:r>
            <a:r>
              <a:rPr lang="pt-PT" sz="1600"/>
              <a:t>Utilizou-se a técnica de </a:t>
            </a:r>
            <a:r>
              <a:rPr lang="pt-PT" sz="1600" err="1"/>
              <a:t>Hold</a:t>
            </a:r>
            <a:r>
              <a:rPr lang="pt-PT" sz="1600"/>
              <a:t>-out (divisão treino/teste) ou K-</a:t>
            </a:r>
            <a:r>
              <a:rPr lang="pt-PT" sz="1600" err="1"/>
              <a:t>Fold</a:t>
            </a:r>
            <a:r>
              <a:rPr lang="pt-PT" sz="1600"/>
              <a:t> Cross-</a:t>
            </a:r>
            <a:r>
              <a:rPr lang="pt-PT" sz="1600" err="1"/>
              <a:t>Validation</a:t>
            </a:r>
            <a:r>
              <a:rPr lang="pt-PT" sz="1600"/>
              <a:t> (</a:t>
            </a:r>
            <a:r>
              <a:rPr lang="pt-PT" sz="1600" err="1"/>
              <a:t>ex</a:t>
            </a:r>
            <a:r>
              <a:rPr lang="pt-PT" sz="1600"/>
              <a:t>: 5-fold) para garantir que os resultados do modelo são consistentes e não dependem de uma escolha aleatória específica dos dados</a:t>
            </a:r>
            <a:endParaRPr lang="en-PT" sz="1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EA042-7F16-250D-904E-0D495DF7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93020-01B6-6FA8-4274-2473F91F0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</p:spTree>
    <p:extLst>
      <p:ext uri="{BB962C8B-B14F-4D97-AF65-F5344CB8AC3E}">
        <p14:creationId xmlns:p14="http://schemas.microsoft.com/office/powerpoint/2010/main" val="3857539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3F027-2243-4835-CC56-74F42BA7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F023-90AF-93E8-0628-980DA4C8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empirical study: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AF63F-74CA-62FE-EEA3-52F343F8D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262626"/>
                </a:solidFill>
              </a:defRPr>
            </a:pPr>
            <a:r>
              <a:t>Best model: Logistic Regression (F1 macro = 0.854)</a:t>
            </a:r>
          </a:p>
          <a:p>
            <a:pPr>
              <a:defRPr sz="1400">
                <a:solidFill>
                  <a:srgbClr val="373737"/>
                </a:solidFill>
              </a:defRPr>
            </a:pPr>
            <a:r>
              <a:t>Evaluation: 80/20 Hold-out split with 200 test records</a:t>
            </a:r>
          </a:p>
          <a:p>
            <a:pPr>
              <a:defRPr sz="1400">
                <a:solidFill>
                  <a:srgbClr val="373737"/>
                </a:solidFill>
              </a:defRPr>
            </a:pPr>
            <a:r>
              <a:t>SVM achieved a very similar performance (F1 macro = 0.848)</a:t>
            </a:r>
          </a:p>
          <a:p>
            <a:pPr>
              <a:defRPr sz="1400">
                <a:solidFill>
                  <a:srgbClr val="373737"/>
                </a:solidFill>
              </a:defRPr>
            </a:pPr>
            <a:r>
              <a:t>The Medium class had more confusion because it is the transition zone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47D20-CB05-C73F-9F63-E8C4D7083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B9EAB-B341-E2BE-FB7B-C03748A46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331720"/>
          <a:ext cx="47091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1C54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C54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C54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1C548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1E1E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E5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1E1E"/>
                          </a:solidFill>
                        </a:rPr>
                        <a:t>0.851</a:t>
                      </a:r>
                    </a:p>
                  </a:txBody>
                  <a:tcPr>
                    <a:solidFill>
                      <a:srgbClr val="E5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1E1E"/>
                          </a:solidFill>
                        </a:rPr>
                        <a:t>0.858</a:t>
                      </a:r>
                    </a:p>
                  </a:txBody>
                  <a:tcPr>
                    <a:solidFill>
                      <a:srgbClr val="E5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E1E1E"/>
                          </a:solidFill>
                        </a:rPr>
                        <a:t>0.854</a:t>
                      </a:r>
                    </a:p>
                  </a:txBody>
                  <a:tcPr>
                    <a:solidFill>
                      <a:srgbClr val="E5F1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</a:rPr>
                        <a:t>0.848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</a:rPr>
                        <a:t>0.848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</a:rPr>
                        <a:t>0.848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1E1E"/>
                          </a:solidFill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</a:rPr>
                        <a:t>0.813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</a:rPr>
                        <a:t>0.818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1E1E"/>
                          </a:solidFill>
                        </a:rPr>
                        <a:t>0.815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148840"/>
            <a:ext cx="288036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764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DED63-CEF5-934E-640B-EE9478E8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68144-933A-0D11-A18B-41E15D149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8475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PT" sz="1800" b="1">
                <a:solidFill>
                  <a:srgbClr val="000000"/>
                </a:solidFill>
                <a:ea typeface="+mn-lt"/>
                <a:cs typeface="+mn-lt"/>
              </a:rPr>
              <a:t>Direção de RH:</a:t>
            </a:r>
            <a:r>
              <a:rPr lang="pt-PT" sz="1800">
                <a:solidFill>
                  <a:srgbClr val="000000"/>
                </a:solidFill>
                <a:ea typeface="+mn-lt"/>
                <a:cs typeface="+mn-lt"/>
              </a:rPr>
              <a:t> Para validar as métricas de bem-estar.</a:t>
            </a:r>
            <a:endParaRPr lang="pt-PT" sz="1800" dirty="0">
              <a:ea typeface="Calibri"/>
              <a:cs typeface="Calibri"/>
            </a:endParaRPr>
          </a:p>
          <a:p>
            <a:pPr marL="0" indent="0">
              <a:buNone/>
            </a:pPr>
            <a:endParaRPr lang="pt-PT" sz="18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PT" sz="1800" b="1">
                <a:solidFill>
                  <a:srgbClr val="000000"/>
                </a:solidFill>
                <a:ea typeface="+mn-lt"/>
                <a:cs typeface="+mn-lt"/>
              </a:rPr>
              <a:t>Gestores de Equipa: </a:t>
            </a:r>
            <a:r>
              <a:rPr lang="pt-PT" sz="1800">
                <a:solidFill>
                  <a:srgbClr val="000000"/>
                </a:solidFill>
                <a:ea typeface="+mn-lt"/>
                <a:cs typeface="+mn-lt"/>
              </a:rPr>
              <a:t>Para implementar as intervenções sugeridas.</a:t>
            </a:r>
            <a:endParaRPr lang="pt-PT" sz="1800" dirty="0">
              <a:ea typeface="Calibri"/>
              <a:cs typeface="Calibri"/>
            </a:endParaRPr>
          </a:p>
          <a:p>
            <a:pPr marL="0" indent="0">
              <a:buNone/>
            </a:pPr>
            <a:endParaRPr lang="pt-PT" sz="18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PT" sz="1800" b="1">
                <a:solidFill>
                  <a:srgbClr val="000000"/>
                </a:solidFill>
                <a:ea typeface="+mn-lt"/>
                <a:cs typeface="+mn-lt"/>
              </a:rPr>
              <a:t>Departamento de TI/Segurança:</a:t>
            </a:r>
            <a:r>
              <a:rPr lang="pt-PT" sz="1800">
                <a:solidFill>
                  <a:srgbClr val="000000"/>
                </a:solidFill>
                <a:ea typeface="+mn-lt"/>
                <a:cs typeface="+mn-lt"/>
              </a:rPr>
              <a:t> Para garantir a integração com sistemas de gestão de projetos e proteção de dados.</a:t>
            </a:r>
            <a:endParaRPr lang="pt-PT" sz="1800" dirty="0">
              <a:ea typeface="Calibri"/>
              <a:cs typeface="Calibri"/>
            </a:endParaRPr>
          </a:p>
          <a:p>
            <a:pPr marL="0" indent="0">
              <a:buNone/>
            </a:pPr>
            <a:endParaRPr lang="pt-PT" sz="18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PT" sz="1800" b="1">
                <a:solidFill>
                  <a:srgbClr val="000000"/>
                </a:solidFill>
                <a:ea typeface="+mn-lt"/>
                <a:cs typeface="+mn-lt"/>
              </a:rPr>
              <a:t>Representantes dos Colaboradores/Sindicato:</a:t>
            </a:r>
            <a:r>
              <a:rPr lang="pt-PT" sz="1800">
                <a:solidFill>
                  <a:srgbClr val="000000"/>
                </a:solidFill>
                <a:ea typeface="+mn-lt"/>
                <a:cs typeface="+mn-lt"/>
              </a:rPr>
              <a:t> Para garantir a aceitação ética da monitorização.</a:t>
            </a:r>
            <a:endParaRPr lang="pt-PT" sz="1800">
              <a:ea typeface="Calibri"/>
              <a:cs typeface="Calibri"/>
            </a:endParaRPr>
          </a:p>
          <a:p>
            <a:pPr marL="0" indent="0">
              <a:buNone/>
            </a:pPr>
            <a:endParaRPr lang="pt-PT" sz="1800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D6757-7584-CB42-EE07-01C8562F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4C13E-6F0B-83CE-B798-6E50ECE2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</p:spTree>
    <p:extLst>
      <p:ext uri="{BB962C8B-B14F-4D97-AF65-F5344CB8AC3E}">
        <p14:creationId xmlns:p14="http://schemas.microsoft.com/office/powerpoint/2010/main" val="1715405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82E4-7D46-ED0F-A0AD-AF17554E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T"/>
              <a:t>expected challenges during development and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ABCF5-7DDD-3EE1-903F-E3F2BFF40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PT"/>
              <a:t>technical </a:t>
            </a:r>
          </a:p>
          <a:p>
            <a:pPr lvl="1"/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Garantir a qualidade e limpeza dos dados provenientes de diferentes fontes (ex: inquéritos vs. registos de horas)</a:t>
            </a:r>
            <a:endParaRPr lang="en-PT" sz="1800" dirty="0">
              <a:solidFill>
                <a:srgbClr val="000000"/>
              </a:solidFill>
              <a:ea typeface="Calibri"/>
              <a:cs typeface="Calibri"/>
            </a:endParaRPr>
          </a:p>
          <a:p>
            <a:pPr lvl="1"/>
            <a:endParaRPr lang="en-US" sz="1800" dirty="0"/>
          </a:p>
          <a:p>
            <a:r>
              <a:rPr lang="en-PT"/>
              <a:t>organizational</a:t>
            </a:r>
          </a:p>
          <a:p>
            <a:pPr lvl="1"/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Resistência dos colaboradores por medo de "vigilância" ou de que os dados de stress sejam usados negativamente na avaliação de desempenho</a:t>
            </a:r>
            <a:br>
              <a:rPr lang="en-US" sz="1800" dirty="0">
                <a:ea typeface="+mn-lt"/>
                <a:cs typeface="+mn-lt"/>
              </a:rPr>
            </a:br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49403-0050-F998-D870-75DABA10A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D84E8-7699-3009-67D9-328885C21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</p:spTree>
    <p:extLst>
      <p:ext uri="{BB962C8B-B14F-4D97-AF65-F5344CB8AC3E}">
        <p14:creationId xmlns:p14="http://schemas.microsoft.com/office/powerpoint/2010/main" val="2294330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BFBCE-ED83-AC6F-BD51-40E4FD1B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/>
              <a:t>unavailable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AE032-E937-8CC4-459D-17DECB994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 sz="1800" b="1">
                <a:solidFill>
                  <a:srgbClr val="000000"/>
                </a:solidFill>
                <a:ea typeface="+mn-lt"/>
                <a:cs typeface="+mn-lt"/>
              </a:rPr>
              <a:t>Dados biométricos: </a:t>
            </a:r>
            <a:r>
              <a:rPr lang="pt-PT" sz="1800">
                <a:solidFill>
                  <a:srgbClr val="000000"/>
                </a:solidFill>
                <a:ea typeface="+mn-lt"/>
                <a:cs typeface="+mn-lt"/>
              </a:rPr>
              <a:t>(Frequência cardíaca, qualidade do sono via wearables) que dariam uma visão fisiológica real do stress.</a:t>
            </a:r>
          </a:p>
          <a:p>
            <a:pPr marL="0" indent="0">
              <a:buNone/>
            </a:pPr>
            <a:endParaRPr lang="pt-PT" sz="1800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pt-PT" sz="1800" b="1">
                <a:solidFill>
                  <a:srgbClr val="000000"/>
                </a:solidFill>
                <a:ea typeface="+mn-lt"/>
                <a:cs typeface="+mn-lt"/>
              </a:rPr>
              <a:t>Fatores externos: </a:t>
            </a:r>
            <a:r>
              <a:rPr lang="pt-PT" sz="1800">
                <a:solidFill>
                  <a:srgbClr val="000000"/>
                </a:solidFill>
                <a:ea typeface="+mn-lt"/>
                <a:cs typeface="+mn-lt"/>
              </a:rPr>
              <a:t>Contexto familiar ou problemas pessoais (dados privados e de difícil recolha ética).</a:t>
            </a:r>
            <a:endParaRPr lang="en-US" sz="1800">
              <a:ea typeface="Calibri"/>
              <a:cs typeface="Calibri"/>
            </a:endParaRPr>
          </a:p>
          <a:p>
            <a:pPr marL="0" indent="0">
              <a:buNone/>
            </a:pPr>
            <a:endParaRPr lang="pt-PT" sz="1800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pt-PT" sz="1800" b="1">
                <a:solidFill>
                  <a:srgbClr val="000000"/>
                </a:solidFill>
                <a:ea typeface="+mn-lt"/>
                <a:cs typeface="+mn-lt"/>
              </a:rPr>
              <a:t>Desafio:</a:t>
            </a:r>
            <a:r>
              <a:rPr lang="pt-PT" sz="1800">
                <a:solidFill>
                  <a:srgbClr val="000000"/>
                </a:solidFill>
                <a:ea typeface="+mn-lt"/>
                <a:cs typeface="+mn-lt"/>
              </a:rPr>
              <a:t> A recolha destes dados envolve questões críticas de privacidade e custos de hardware.</a:t>
            </a:r>
            <a:endParaRPr lang="pt-PT" sz="1800"/>
          </a:p>
          <a:p>
            <a:endParaRPr lang="en-PT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4D675-38F4-1062-A0F4-F683C825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F9AA4-A5FF-BC1C-9E4D-F7F9CF6B2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</p:spTree>
    <p:extLst>
      <p:ext uri="{BB962C8B-B14F-4D97-AF65-F5344CB8AC3E}">
        <p14:creationId xmlns:p14="http://schemas.microsoft.com/office/powerpoint/2010/main" val="1691508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3A40-A220-5004-7B97-603C5772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/>
              <a:t>ethical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F44C-762F-7C16-EEC5-07FBD4AB9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PT" sz="1800" b="1">
                <a:solidFill>
                  <a:srgbClr val="000000"/>
                </a:solidFill>
                <a:ea typeface="+mn-lt"/>
                <a:cs typeface="+mn-lt"/>
              </a:rPr>
              <a:t>Privacidade:</a:t>
            </a:r>
            <a:r>
              <a:rPr lang="pt-PT" sz="1800">
                <a:solidFill>
                  <a:srgbClr val="000000"/>
                </a:solidFill>
                <a:ea typeface="+mn-lt"/>
                <a:cs typeface="+mn-lt"/>
              </a:rPr>
              <a:t> Risco de exposição de dados sensíveis de saúde mental.</a:t>
            </a:r>
            <a:endParaRPr lang="pt-PT" sz="1800">
              <a:ea typeface="Calibri"/>
              <a:cs typeface="Calibri"/>
            </a:endParaRPr>
          </a:p>
          <a:p>
            <a:pPr marL="0" indent="0">
              <a:buNone/>
            </a:pPr>
            <a:endParaRPr lang="pt-PT" sz="18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PT" sz="1800" b="1">
                <a:solidFill>
                  <a:srgbClr val="000000"/>
                </a:solidFill>
                <a:ea typeface="+mn-lt"/>
                <a:cs typeface="+mn-lt"/>
              </a:rPr>
              <a:t>Discriminação</a:t>
            </a:r>
            <a:r>
              <a:rPr lang="pt-PT" sz="1800">
                <a:solidFill>
                  <a:srgbClr val="000000"/>
                </a:solidFill>
                <a:ea typeface="+mn-lt"/>
                <a:cs typeface="+mn-lt"/>
              </a:rPr>
              <a:t>: O modelo pode ser mal utilizado para "filtrar" colaboradores em vez de os apoiar.</a:t>
            </a:r>
            <a:endParaRPr lang="pt-PT" sz="1800">
              <a:ea typeface="Calibri"/>
              <a:cs typeface="Calibri"/>
            </a:endParaRPr>
          </a:p>
          <a:p>
            <a:pPr marL="0" indent="0">
              <a:buNone/>
            </a:pPr>
            <a:endParaRPr lang="pt-PT" sz="18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pt-PT" sz="1800" b="1">
                <a:solidFill>
                  <a:srgbClr val="000000"/>
                </a:solidFill>
                <a:ea typeface="+mn-lt"/>
                <a:cs typeface="+mn-lt"/>
              </a:rPr>
              <a:t>Vigilância Excessiva:</a:t>
            </a:r>
            <a:r>
              <a:rPr lang="pt-PT" sz="1800">
                <a:solidFill>
                  <a:srgbClr val="000000"/>
                </a:solidFill>
                <a:ea typeface="+mn-lt"/>
                <a:cs typeface="+mn-lt"/>
              </a:rPr>
              <a:t> Criação de um ambiente de desconfiança se os colaboradores sentirem que todos os seus passos são monitorizados para calcular um "score".</a:t>
            </a:r>
            <a:endParaRPr lang="pt-PT" sz="180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8AB8E-B472-EE14-5613-83806011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32F18-BCD7-598E-0909-B8CFF27D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</p:spTree>
    <p:extLst>
      <p:ext uri="{BB962C8B-B14F-4D97-AF65-F5344CB8AC3E}">
        <p14:creationId xmlns:p14="http://schemas.microsoft.com/office/powerpoint/2010/main" val="3806229600"/>
      </p:ext>
    </p:extLst>
  </p:cSld>
  <p:clrMapOvr>
    <a:masterClrMapping/>
  </p:clrMapOvr>
</p:sld>
</file>

<file path=ppt/theme/theme1.xml><?xml version="1.0" encoding="utf-8"?>
<a:theme xmlns:a="http://schemas.openxmlformats.org/drawingml/2006/main" name="FEUP - aula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FEUP - aulas.potx</Template>
  <Application>Microsoft Office PowerPoint</Application>
  <PresentationFormat>Apresentação no Ecrã (4:3)</PresentationFormat>
  <Slides>12</Slides>
  <Notes>2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3" baseType="lpstr">
      <vt:lpstr>FEUP - aulas</vt:lpstr>
      <vt:lpstr>Project 2 L.EIC – IART</vt:lpstr>
      <vt:lpstr>customer</vt:lpstr>
      <vt:lpstr>Gestão de Burnout em Empresas</vt:lpstr>
      <vt:lpstr>available data</vt:lpstr>
      <vt:lpstr>solution overview</vt:lpstr>
      <vt:lpstr>predictive model</vt:lpstr>
      <vt:lpstr>empirical study: setup</vt:lpstr>
      <vt:lpstr>empirical study: results</vt:lpstr>
      <vt:lpstr>stakeholders</vt:lpstr>
      <vt:lpstr>expected challenges during development and deployment</vt:lpstr>
      <vt:lpstr>unavailable data</vt:lpstr>
      <vt:lpstr>ethical risks</vt:lpstr>
    </vt:vector>
  </TitlesOfParts>
  <Company>Universidade do Porto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Carlos Soares</dc:creator>
  <cp:revision>44</cp:revision>
  <cp:lastPrinted>2025-12-10T00:32:54Z</cp:lastPrinted>
  <dcterms:created xsi:type="dcterms:W3CDTF">2012-09-12T17:30:14Z</dcterms:created>
  <dcterms:modified xsi:type="dcterms:W3CDTF">2026-05-22T07:01:06Z</dcterms:modified>
</cp:coreProperties>
</file>